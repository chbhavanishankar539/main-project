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62" r:id="rId5"/>
    <p:sldId id="275" r:id="rId6"/>
    <p:sldId id="276" r:id="rId7"/>
    <p:sldId id="264" r:id="rId8"/>
    <p:sldId id="327" r:id="rId9"/>
    <p:sldId id="277" r:id="rId10"/>
    <p:sldId id="265" r:id="rId11"/>
    <p:sldId id="328" r:id="rId12"/>
    <p:sldId id="329" r:id="rId13"/>
    <p:sldId id="288" r:id="rId14"/>
    <p:sldId id="285" r:id="rId15"/>
    <p:sldId id="278" r:id="rId16"/>
    <p:sldId id="266" r:id="rId17"/>
    <p:sldId id="279" r:id="rId18"/>
    <p:sldId id="267" r:id="rId19"/>
    <p:sldId id="268" r:id="rId20"/>
    <p:sldId id="280" r:id="rId21"/>
    <p:sldId id="281" r:id="rId22"/>
    <p:sldId id="269" r:id="rId23"/>
    <p:sldId id="270" r:id="rId24"/>
    <p:sldId id="282" r:id="rId25"/>
    <p:sldId id="283" r:id="rId26"/>
    <p:sldId id="284" r:id="rId27"/>
    <p:sldId id="274" r:id="rId28"/>
    <p:sldId id="337"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6" r:id="rId48"/>
    <p:sldId id="325" r:id="rId49"/>
    <p:sldId id="273" r:id="rId50"/>
    <p:sldId id="29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6/5/2024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1270" y="2732203"/>
            <a:ext cx="7933197" cy="830997"/>
          </a:xfrm>
          <a:prstGeom prst="rect">
            <a:avLst/>
          </a:prstGeom>
        </p:spPr>
        <p:txBody>
          <a:bodyPr wrap="none">
            <a:spAutoFit/>
          </a:bodyPr>
          <a:lstStyle/>
          <a:p>
            <a:pPr algn="ct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HANDWRITTEN SIGNATURE RECOGNITION USING </a:t>
            </a:r>
          </a:p>
          <a:p>
            <a:pPr algn="ct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MACHINE LEARNING</a:t>
            </a:r>
            <a:endParaRPr lang="en-IN" sz="24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5" y="1724212"/>
            <a:ext cx="3957667" cy="413774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Disadvantages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marL="768350" lvl="2"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724212"/>
            <a:ext cx="5561701" cy="378501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Project </a:t>
            </a:r>
            <a:r>
              <a:rPr lang="en-US" sz="1800" dirty="0">
                <a:latin typeface="Times New Roman" panose="02020603050405020304" pitchFamily="18" charset="0"/>
                <a:cs typeface="Times New Roman" panose="02020603050405020304" pitchFamily="18" charset="0"/>
              </a:rPr>
              <a:t>Flow	</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a:t>
            </a:r>
            <a:r>
              <a:rPr lang="en-US" sz="1800" dirty="0" smtClean="0">
                <a:latin typeface="Times New Roman" panose="02020603050405020304" pitchFamily="18" charset="0"/>
                <a:cs typeface="Times New Roman" panose="02020603050405020304" pitchFamily="18" charset="0"/>
              </a:rPr>
              <a:t>Diagram</a:t>
            </a:r>
          </a:p>
          <a:p>
            <a:pPr lvl="2">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290225" y="683740"/>
            <a:ext cx="3611547"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768626" y="1439300"/>
            <a:ext cx="10654747" cy="3371885"/>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the realm of document verification, handwritten signature classification emerges as a pivotal component. This paper introduces a robust system for handwritten signature classification employing Convolutional Neural Networks (CNN) and the lightweight Mobile Net architecture, optimizing the accuracy and efficiency of the signature verification process. Signature classification, a challenging task due to the inherent variations and idiosyncrasies in individuals’ handwriting styles, demands a technique that can understand and learn these nuanced differences. The proposed model incorporates a CNN, effectively extracting hierarchical features from the signature images, while the Mobile Net architecture ensures the model's lightweight nature and adaptability to various devices, including those with limited computational resources.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3162" y="2372139"/>
            <a:ext cx="10071429" cy="3377207"/>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Furthermore, our approach leverages data augmentation and transfer learning techniques to enhance the model's generalization capabilities and performance on unseen data. Experimental results demonstrate that the proposed signature classification system achieves commendable accuracy and reduced latency, making it a suitable candidate for real-time applications in secure document verification and identity authentication arenas.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Deep Learning, Convolutional Neural Networks (CNN), Mobile net, Image Processing.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153162" y="863445"/>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2021852" y="2280090"/>
            <a:ext cx="8468498" cy="3371885"/>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study aims to develop a robust handwritten signature classification system by ingeniously integrating Convolutional Neural Networks (CNN) with the Mobile Net architecture. The objective is to leverage the powerful feature extraction capabilities of CNNs, and the lightweight and efficient characteristics of Mobile Net, to create a model that is both accurate and resource-efficient. Furthermore, the study seeks to employ transfer learning and data augmentation techniques to improve the model's performance, making it adaptable and effective in handling the diverse and challenging nature of handwritten signatures.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1771135" y="2534031"/>
            <a:ext cx="9045146" cy="2956387"/>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Despite their widespread acceptance, handwritten signatures exhibit significant variations, even from the same individual, due to changes in mood, health, and age, making accurate classification arduous. Existing classification systems either lack in accuracy or require extensive computational resources, making them impractical for real-time applications and deployment on devices with limited computational capacity. There is a pressing need for a system that not only provides accurate classification results but is also efficient and adaptable to various technological infrastructures.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6" y="2045977"/>
            <a:ext cx="8607380" cy="3868816"/>
          </a:xfrm>
          <a:prstGeom prst="rect">
            <a:avLst/>
          </a:prstGeom>
        </p:spPr>
        <p:txBody>
          <a:bodyPr wrap="square">
            <a:spAutoFit/>
          </a:bodyPr>
          <a:lstStyle/>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Motivation:-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digital era has witnessed an explosive increase in the necessity for secure and efficient methods for document verification and identity authentication. Handwritten signatures, universally accepted as a form of personal verification, are often subjected to forgery and misclassification, thus necessitating the development of advanced classification mechanisms. Employing deep learning, specifically CNN and Mobile Net, for handwritten signature classification, offers a promising approach to address these challenges due to their capability in feature extraction and lightweight deployment on various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269" y="2120348"/>
            <a:ext cx="10429461" cy="3868816"/>
          </a:xfrm>
          <a:prstGeom prst="rect">
            <a:avLst/>
          </a:prstGeom>
        </p:spPr>
        <p:txBody>
          <a:bodyPr wrap="square">
            <a:spAutoFit/>
          </a:bodyPr>
          <a:lstStyle/>
          <a:p>
            <a:pPr algn="just">
              <a:lnSpc>
                <a:spcPct val="150000"/>
              </a:lnSpc>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Scope:-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scope of this research extends to the design, development, and evaluation of a handwritten signature classification system based on CNN and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architecture. The study will explore various data augmentation techniques to enhance the training dataset and utilize transfer learning to improve the model's generalization on unseen data. The research will be validated using a diverse dataset of handwritten signatures, considering different writing styles, ages, and cultural backgrounds to ensure the developed system's effectiveness and applicability in real-world, diverse settings. The performance of the proposed system will be benchmarked against existing classification techniques in terms of accuracy, efficiency, and deployment feasibility on devices with varying computational capacities.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2626182" y="868836"/>
            <a:ext cx="693963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extLst>
      <p:ext uri="{BB962C8B-B14F-4D97-AF65-F5344CB8AC3E}">
        <p14:creationId xmlns:p14="http://schemas.microsoft.com/office/powerpoint/2010/main" val="161828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919" y="2512182"/>
            <a:ext cx="9753600" cy="2956387"/>
          </a:xfrm>
          <a:prstGeom prst="rect">
            <a:avLst/>
          </a:prstGeom>
        </p:spPr>
        <p:txBody>
          <a:bodyPr wrap="square">
            <a:spAutoFit/>
          </a:bodyPr>
          <a:lstStyle/>
          <a:p>
            <a:pPr algn="just">
              <a:lnSpc>
                <a:spcPct val="150000"/>
              </a:lnSpc>
              <a:spcBef>
                <a:spcPts val="120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Traditional classification mechanisms have often fallen short of expectations, primarily due to their inability to accommodate the wide variations in handwritten signatures. The limitations of these traditional approaches, which range from manual verification to simple pattern recognition techniques, underscore the need for advanced, automated solutions leveraging the power of deep learning. Convolutional Neural Networks (CNNs), a class of deep learning algorithms, have demonstrated remarkable success in image and pattern recognition tasks due to their ability to automatically learn hierarchical features from input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97666" y="9239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04873" y="2384316"/>
            <a:ext cx="10025449" cy="3274614"/>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However, the complexity and computational requirements of typical deep learning models hinder their effectiveness and practicality in real-time applications, especially on devices with constrained computational resources. This constraint necessitates the exploration of lightweight yet powerful deep learning architectures. Enter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streamlined and efficient deep learning architecture designed for mobile and edge devices. By combining the strength of CNNs and the efficiency of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there's potential for a signature classification system that is not only accurate but also agile and deployable on a wide range of devices.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68208" y="794363"/>
          <a:ext cx="11236409" cy="5034280"/>
        </p:xfrm>
        <a:graphic>
          <a:graphicData uri="http://schemas.openxmlformats.org/drawingml/2006/table">
            <a:tbl>
              <a:tblPr firstRow="1" bandRow="1">
                <a:tableStyleId>{5C22544A-7EE6-4342-B048-85BDC9FD1C3A}</a:tableStyleId>
              </a:tblPr>
              <a:tblGrid>
                <a:gridCol w="892079">
                  <a:extLst>
                    <a:ext uri="{9D8B030D-6E8A-4147-A177-3AD203B41FA5}">
                      <a16:colId xmlns:a16="http://schemas.microsoft.com/office/drawing/2014/main" val="20000"/>
                    </a:ext>
                  </a:extLst>
                </a:gridCol>
                <a:gridCol w="1611982">
                  <a:extLst>
                    <a:ext uri="{9D8B030D-6E8A-4147-A177-3AD203B41FA5}">
                      <a16:colId xmlns:a16="http://schemas.microsoft.com/office/drawing/2014/main" val="20001"/>
                    </a:ext>
                  </a:extLst>
                </a:gridCol>
                <a:gridCol w="1884876">
                  <a:extLst>
                    <a:ext uri="{9D8B030D-6E8A-4147-A177-3AD203B41FA5}">
                      <a16:colId xmlns:a16="http://schemas.microsoft.com/office/drawing/2014/main" val="20002"/>
                    </a:ext>
                  </a:extLst>
                </a:gridCol>
                <a:gridCol w="2021461">
                  <a:extLst>
                    <a:ext uri="{9D8B030D-6E8A-4147-A177-3AD203B41FA5}">
                      <a16:colId xmlns:a16="http://schemas.microsoft.com/office/drawing/2014/main" val="20003"/>
                    </a:ext>
                  </a:extLst>
                </a:gridCol>
                <a:gridCol w="482601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1" i="0" kern="1200" dirty="0">
                          <a:solidFill>
                            <a:schemeClr val="dk1"/>
                          </a:solidFill>
                          <a:effectLst/>
                          <a:latin typeface="Times New Roman" panose="02020603050405020304" pitchFamily="18" charset="0"/>
                          <a:ea typeface="+mn-ea"/>
                          <a:cs typeface="Times New Roman" panose="02020603050405020304" pitchFamily="18" charset="0"/>
                        </a:rPr>
                        <a:t>2017</a:t>
                      </a:r>
                      <a:endParaRPr lang="en-US" sz="1800" b="0" kern="1200" dirty="0">
                        <a:solidFill>
                          <a:schemeClr val="bg1"/>
                        </a:solidFill>
                        <a:effectLst/>
                        <a:latin typeface="Times New Roman" panose="02020603050405020304" pitchFamily="18" charset="0"/>
                        <a:ea typeface="+mn-ea"/>
                        <a:cs typeface="Times New Roman" panose="02020603050405020304" pitchFamily="18" charset="0"/>
                      </a:endParaRP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0" kern="1200" dirty="0" err="1">
                          <a:solidFill>
                            <a:schemeClr val="dk1"/>
                          </a:solidFill>
                          <a:effectLst/>
                          <a:latin typeface="Times New Roman" panose="02020603050405020304" pitchFamily="18" charset="0"/>
                          <a:ea typeface="+mn-ea"/>
                          <a:cs typeface="Times New Roman" panose="02020603050405020304" pitchFamily="18" charset="0"/>
                        </a:rPr>
                        <a:t>Hafemann</a:t>
                      </a:r>
                      <a:r>
                        <a:rPr lang="en-IN" sz="1600" b="0" kern="1200" dirty="0">
                          <a:solidFill>
                            <a:schemeClr val="dk1"/>
                          </a:solidFill>
                          <a:effectLst/>
                          <a:latin typeface="Times New Roman" panose="02020603050405020304" pitchFamily="18" charset="0"/>
                          <a:ea typeface="+mn-ea"/>
                          <a:cs typeface="Times New Roman" panose="02020603050405020304" pitchFamily="18" charset="0"/>
                        </a:rPr>
                        <a:t>, L. G., Sabourin, R., &amp; Oliveira</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Learning features for offline handwritten signature verification using deep convolutional neural networks</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This paper discusses the usage of deep convolutional neural networks (CNN) for extracting features from offline handwritten signatures. It also presents a novel method for signature verification.</a:t>
                      </a:r>
                      <a:endParaRPr lang="en-US"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2016</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Zhang, B., Srihari,</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Analysis of Handwriting Individuality Using Word Features. Proceedings of Seventh International Conference on Document Analysis and Recognition</a:t>
                      </a:r>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this provides a fundamental understanding of handwriting individuality using word features, which can be beneficial in the context of signature classification and verification.</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80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78824" y="1148034"/>
          <a:ext cx="11521440" cy="5080000"/>
        </p:xfrm>
        <a:graphic>
          <a:graphicData uri="http://schemas.openxmlformats.org/drawingml/2006/table">
            <a:tbl>
              <a:tblPr firstRow="1" bandRow="1">
                <a:tableStyleId>{5C22544A-7EE6-4342-B048-85BDC9FD1C3A}</a:tableStyleId>
              </a:tblPr>
              <a:tblGrid>
                <a:gridCol w="914709">
                  <a:extLst>
                    <a:ext uri="{9D8B030D-6E8A-4147-A177-3AD203B41FA5}">
                      <a16:colId xmlns:a16="http://schemas.microsoft.com/office/drawing/2014/main" val="20000"/>
                    </a:ext>
                  </a:extLst>
                </a:gridCol>
                <a:gridCol w="1652872">
                  <a:extLst>
                    <a:ext uri="{9D8B030D-6E8A-4147-A177-3AD203B41FA5}">
                      <a16:colId xmlns:a16="http://schemas.microsoft.com/office/drawing/2014/main" val="20001"/>
                    </a:ext>
                  </a:extLst>
                </a:gridCol>
                <a:gridCol w="1932689">
                  <a:extLst>
                    <a:ext uri="{9D8B030D-6E8A-4147-A177-3AD203B41FA5}">
                      <a16:colId xmlns:a16="http://schemas.microsoft.com/office/drawing/2014/main" val="20002"/>
                    </a:ext>
                  </a:extLst>
                </a:gridCol>
                <a:gridCol w="2072739">
                  <a:extLst>
                    <a:ext uri="{9D8B030D-6E8A-4147-A177-3AD203B41FA5}">
                      <a16:colId xmlns:a16="http://schemas.microsoft.com/office/drawing/2014/main" val="20003"/>
                    </a:ext>
                  </a:extLst>
                </a:gridCol>
                <a:gridCol w="494843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2013</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Rivard</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D., Granger, E., Sabourin, </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Multi-feature extraction and selection in writer-independent offline signature verification</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This article discusses multi-feature extraction and selection strategies for improving the performance of writer-independent offline signature verification systems.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Pal, S., Alireza, A., Pal, U., Blumenstein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Handwritten signature verification using split-and-merge deep belief network</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paper introduces a deep learning approach based on a split-and-merge strategy for signature verification. They employed a Deep Belief Network (DBN) to achieve this.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63885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42337" y="1373322"/>
          <a:ext cx="10494287" cy="4817853"/>
        </p:xfrm>
        <a:graphic>
          <a:graphicData uri="http://schemas.openxmlformats.org/drawingml/2006/table">
            <a:tbl>
              <a:tblPr firstRow="1" bandRow="1">
                <a:tableStyleId>{5C22544A-7EE6-4342-B048-85BDC9FD1C3A}</a:tableStyleId>
              </a:tblPr>
              <a:tblGrid>
                <a:gridCol w="833161">
                  <a:extLst>
                    <a:ext uri="{9D8B030D-6E8A-4147-A177-3AD203B41FA5}">
                      <a16:colId xmlns:a16="http://schemas.microsoft.com/office/drawing/2014/main" val="20000"/>
                    </a:ext>
                  </a:extLst>
                </a:gridCol>
                <a:gridCol w="1505516">
                  <a:extLst>
                    <a:ext uri="{9D8B030D-6E8A-4147-A177-3AD203B41FA5}">
                      <a16:colId xmlns:a16="http://schemas.microsoft.com/office/drawing/2014/main" val="20001"/>
                    </a:ext>
                  </a:extLst>
                </a:gridCol>
                <a:gridCol w="1760387">
                  <a:extLst>
                    <a:ext uri="{9D8B030D-6E8A-4147-A177-3AD203B41FA5}">
                      <a16:colId xmlns:a16="http://schemas.microsoft.com/office/drawing/2014/main" val="20002"/>
                    </a:ext>
                  </a:extLst>
                </a:gridCol>
                <a:gridCol w="1887951">
                  <a:extLst>
                    <a:ext uri="{9D8B030D-6E8A-4147-A177-3AD203B41FA5}">
                      <a16:colId xmlns:a16="http://schemas.microsoft.com/office/drawing/2014/main" val="20003"/>
                    </a:ext>
                  </a:extLst>
                </a:gridCol>
                <a:gridCol w="4507272">
                  <a:extLst>
                    <a:ext uri="{9D8B030D-6E8A-4147-A177-3AD203B41FA5}">
                      <a16:colId xmlns:a16="http://schemas.microsoft.com/office/drawing/2014/main" val="20004"/>
                    </a:ext>
                  </a:extLst>
                </a:gridCol>
              </a:tblGrid>
              <a:tr h="336847">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083204">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ICACITE</a:t>
                      </a:r>
                      <a:r>
                        <a:rPr lang="en-US" sz="1600" b="0" kern="1200" baseline="0" dirty="0">
                          <a:solidFill>
                            <a:schemeClr val="tx1"/>
                          </a:solidFill>
                          <a:effectLst/>
                          <a:latin typeface="Times New Roman" panose="02020603050405020304" pitchFamily="18" charset="0"/>
                          <a:ea typeface="+mn-ea"/>
                          <a:cs typeface="Times New Roman" panose="02020603050405020304" pitchFamily="18" charset="0"/>
                        </a:rPr>
                        <a:t> paper</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Shivam Aggarwal, Ashok Kumar Sahoo, Chetan Bansal, Pradeepta Kumar Sarangi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Image Classification using Deep Learning: A Comparative Study of VGG-16, InceptionV3 and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EfficientNet</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B7 Models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Image classification is the process of identification and classification of an input image or visual from a predetermined set of labeled images. This work comes under computer vision and machine learning. </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368889">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EEBDA</a:t>
                      </a: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Youyou</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Guan, Yuxuan Han, </a:t>
                      </a: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Siqi</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Liu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Deep Learning Approaches for Image Classification Techniques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Neural network is a popular and significant research direction in machine learning, which is widely used in classification. regression, pattern recognition and other fields. Based on the current direction of academic research, the application of neural network in image classification has great research value</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12108" y="1416908"/>
            <a:ext cx="10025449" cy="4708981"/>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facilitated to access the performance and information of attendance of a particular Student in a particular semester of study. The information is sorted by the teachers, instructors and advisors, as provided by the student for a particular day throughout a complete semester.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system will also enable the evaluation of student regular presence in various lectures which will determine the eligibility of the student to sit for a semester examination.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user can receive alert / message from his teachers related to his attendance performance. It is obvious that Students with poor Attendance Management System attendance will see their attendance in a Red warning table that can make the student to be careful not to miss classes anymore.</a:t>
            </a: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77073" y="11285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997261" y="2808421"/>
            <a:ext cx="8197478" cy="2120068"/>
          </a:xfrm>
          <a:prstGeom prst="rect">
            <a:avLst/>
          </a:prstGeom>
        </p:spPr>
        <p:txBody>
          <a:bodyPr wrap="square">
            <a:spAutoFit/>
          </a:bodyPr>
          <a:lstStyle/>
          <a:p>
            <a:pPr algn="just">
              <a:lnSpc>
                <a:spcPct val="150000"/>
              </a:lnSpc>
              <a:spcAft>
                <a:spcPts val="1875"/>
              </a:spcAft>
            </a:pPr>
            <a:r>
              <a:rPr lang="en-US" sz="1800" dirty="0">
                <a:solidFill>
                  <a:srgbClr val="000000"/>
                </a:solidFill>
                <a:effectLst/>
                <a:latin typeface="Times New Roman" panose="02020603050405020304" pitchFamily="18" charset="0"/>
                <a:ea typeface="Calibri" panose="020F0502020204030204" pitchFamily="34" charset="0"/>
              </a:rPr>
              <a:t>The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algorithm, a popular convolutional neural network (CNN), has been previously utilized for handwritten signature classification, serving as an established baseline in the domain. Introduced in 2012,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significantly impacted the field of deep learning, particularly in image classification tasks, due to its depth, structure, and training methodology. </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33158" y="849214"/>
            <a:ext cx="5567503"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052753" y="1720684"/>
            <a:ext cx="10086494" cy="4199226"/>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High Computational Requirements: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 pioneering, is a deep and complex model that demands substantial computational power and memory. This requirement often makes it unsuitable for deployment on devices with limited resources, hindering its application in real-time, on-the-edge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Prone to Overfitting: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trained on smaller datasets, which is often the case with specialized tasks like signature verification,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prone to overfitting. Overfitting results in the model performing exceptionally well on the training data but failing to generalize effectively to unseen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04358" y="793399"/>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589901" y="1867482"/>
            <a:ext cx="9359577" cy="4038093"/>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Large Model Size: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model is considerably large, often leading to inefficiencies in terms of memory usage and computational power, which is a significant concern in constrained environments or in applications where quick response time is critical.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Dependence on Data Quality: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performance is heavily reliant on the quality and amount of data it is trained on. Achieving high accuracy requires large and well-curated datasets, which might not always be available or feasible for specific applications or user groups.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68626" y="1969007"/>
            <a:ext cx="10654748" cy="3787383"/>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proposed system for handwritten signature classification synergistically combines Convolutional Neural Networks (CNN) and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architecture to offer an efficient and accurate solution. In this method, signature images undergo preprocessing, resizing, normalization, and augmentation to foster a diverse dataset. The CNN layer effectively learns hierarchical features from signatures, while the lightweight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enhanced with transfer learning from large datasets like ImageNet, handles the classification task. This fusion not only ensures computational efficiency, making it deployable on resource-constrained devices, but also maintains high accuracy and robust generalization across varied signature data. With rapid inference capabilities and scalability, this system is well-suited for real-time applications and large-scale deployment in handwritten signature classification tasks, addressing the limitations found in existing models like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2" y="1828801"/>
            <a:ext cx="10416209" cy="3264163"/>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Enhanced Computational Efficiency: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lightweight architecture demands fewer computational resources, facilitating efficient training and real-time inference, even on devices with limited computational power such as smartphones and tablets.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Improved Accuracy: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combination of CNN for meticulous feature extraction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for precise classification results in high accuracy in discerning authentic signatures from forged ones, providing a reliable solution for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553545" y="915333"/>
            <a:ext cx="5084909"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1" y="1828800"/>
            <a:ext cx="10416209" cy="3864328"/>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Robust Generalization: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Employing data augmentation techniques and transfer learning, the proposed system showcases robust generalization capabilities. It performs admirably across a diverse set of signatures, effectively handling variations in handwriting styles and qualities.</a:t>
            </a: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Quick Inference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streamlined architecture of the proposed model enables fast prediction times, making it ideal for applications requiring instantaneous signature verification, such as point-of-sale systems and digital document signing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129AC7-5CE5-F1FB-17ED-40EC35EC1993}"/>
              </a:ext>
            </a:extLst>
          </p:cNvPr>
          <p:cNvPicPr>
            <a:picLocks noChangeAspect="1"/>
          </p:cNvPicPr>
          <p:nvPr/>
        </p:nvPicPr>
        <p:blipFill>
          <a:blip r:embed="rId2"/>
          <a:stretch>
            <a:fillRect/>
          </a:stretch>
        </p:blipFill>
        <p:spPr>
          <a:xfrm>
            <a:off x="4188166" y="2026546"/>
            <a:ext cx="2905125" cy="32289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Numpy</a:t>
            </a:r>
          </a:p>
          <a:p>
            <a:pPr algn="just">
              <a:lnSpc>
                <a:spcPct val="150000"/>
              </a:lnSpc>
            </a:pPr>
            <a:r>
              <a:rPr lang="en-US" sz="2000" dirty="0">
                <a:latin typeface="Times New Roman" panose="02020603050405020304" pitchFamily="18" charset="0"/>
                <a:cs typeface="Times New Roman" panose="02020603050405020304" pitchFamily="18" charset="0"/>
              </a:rPr>
              <a:t>IDE/Workbench			:  PyCharm</a:t>
            </a: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8B32D2C3-F513-20F6-DD6F-2BBB2AFD6186}"/>
              </a:ext>
            </a:extLst>
          </p:cNvPr>
          <p:cNvPicPr>
            <a:picLocks noChangeAspect="1"/>
          </p:cNvPicPr>
          <p:nvPr/>
        </p:nvPicPr>
        <p:blipFill>
          <a:blip r:embed="rId2"/>
          <a:stretch>
            <a:fillRect/>
          </a:stretch>
        </p:blipFill>
        <p:spPr>
          <a:xfrm>
            <a:off x="3459212" y="1886157"/>
            <a:ext cx="5273575" cy="3944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57784" y="1137280"/>
            <a:ext cx="2518638" cy="834524"/>
          </a:xfrm>
          <a:prstGeom prst="rect">
            <a:avLst/>
          </a:prstGeom>
        </p:spPr>
        <p:txBody>
          <a:bodyPr wrap="none">
            <a:spAutoFit/>
          </a:bodyPr>
          <a:lstStyle/>
          <a:p>
            <a:pPr>
              <a:lnSpc>
                <a:spcPct val="150000"/>
              </a:lnSpc>
              <a:spcAft>
                <a:spcPts val="800"/>
              </a:spcAft>
            </a:pPr>
            <a:r>
              <a:rPr lang="en-US" sz="3600"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MODULES</a:t>
            </a:r>
            <a:endParaRPr lang="en-IN" sz="3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2455817" y="2355675"/>
            <a:ext cx="8020594" cy="2580194"/>
          </a:xfrm>
          <a:prstGeom prst="rect">
            <a:avLst/>
          </a:prstGeom>
        </p:spPr>
        <p:txBody>
          <a:bodyPr wrap="square">
            <a:spAutoFit/>
          </a:bodyPr>
          <a:lstStyle/>
          <a:p>
            <a:pPr algn="just">
              <a:lnSpc>
                <a:spcPct val="150000"/>
              </a:lnSpc>
              <a:spcAft>
                <a:spcPts val="800"/>
              </a:spcAft>
            </a:pPr>
            <a:r>
              <a:rPr lang="en-US"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User</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Registers in the application by giving the details asked in the form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Login: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Logs in into the page 	by providing the credentials user registered with.</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Upload:</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Uploads the data into the model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Preprocess the dataset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passes the data into model and Gives the result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8973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685618" y="699135"/>
            <a:ext cx="5928295"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4" name="Picture 3">
            <a:extLst>
              <a:ext uri="{FF2B5EF4-FFF2-40B4-BE49-F238E27FC236}">
                <a16:creationId xmlns:a16="http://schemas.microsoft.com/office/drawing/2014/main" id="{3DBE49F3-12D9-7FF6-6575-07B53A47791B}"/>
              </a:ext>
            </a:extLst>
          </p:cNvPr>
          <p:cNvPicPr>
            <a:picLocks noChangeAspect="1"/>
          </p:cNvPicPr>
          <p:nvPr/>
        </p:nvPicPr>
        <p:blipFill>
          <a:blip r:embed="rId2"/>
          <a:stretch>
            <a:fillRect/>
          </a:stretch>
        </p:blipFill>
        <p:spPr>
          <a:xfrm>
            <a:off x="3986212" y="1499435"/>
            <a:ext cx="3855403" cy="42911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61991" y="575430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4" name="Picture 3">
            <a:extLst>
              <a:ext uri="{FF2B5EF4-FFF2-40B4-BE49-F238E27FC236}">
                <a16:creationId xmlns:a16="http://schemas.microsoft.com/office/drawing/2014/main" id="{837BF53A-0AAA-397C-E2ED-AE4FCC4EFFE0}"/>
              </a:ext>
            </a:extLst>
          </p:cNvPr>
          <p:cNvPicPr>
            <a:picLocks noChangeAspect="1"/>
          </p:cNvPicPr>
          <p:nvPr/>
        </p:nvPicPr>
        <p:blipFill>
          <a:blip r:embed="rId2"/>
          <a:stretch>
            <a:fillRect/>
          </a:stretch>
        </p:blipFill>
        <p:spPr>
          <a:xfrm>
            <a:off x="3671570" y="1544259"/>
            <a:ext cx="4848860" cy="4210050"/>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46146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AC3561D-B87C-C28E-566C-CAB79BEEC2C7}"/>
              </a:ext>
            </a:extLst>
          </p:cNvPr>
          <p:cNvPicPr>
            <a:picLocks noChangeAspect="1"/>
          </p:cNvPicPr>
          <p:nvPr/>
        </p:nvPicPr>
        <p:blipFill>
          <a:blip r:embed="rId2"/>
          <a:stretch>
            <a:fillRect/>
          </a:stretch>
        </p:blipFill>
        <p:spPr>
          <a:xfrm>
            <a:off x="3362007" y="1857275"/>
            <a:ext cx="5467985" cy="3267075"/>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49047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ECB93016-57B5-9E8D-6F8B-B3D7C6C7BACC}"/>
              </a:ext>
            </a:extLst>
          </p:cNvPr>
          <p:cNvPicPr>
            <a:picLocks noChangeAspect="1"/>
          </p:cNvPicPr>
          <p:nvPr/>
        </p:nvPicPr>
        <p:blipFill>
          <a:blip r:embed="rId2"/>
          <a:stretch>
            <a:fillRect/>
          </a:stretch>
        </p:blipFill>
        <p:spPr>
          <a:xfrm>
            <a:off x="2802408" y="1857758"/>
            <a:ext cx="6587181" cy="3195727"/>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4" name="Picture 3">
            <a:extLst>
              <a:ext uri="{FF2B5EF4-FFF2-40B4-BE49-F238E27FC236}">
                <a16:creationId xmlns:a16="http://schemas.microsoft.com/office/drawing/2014/main" id="{7CA3F0F2-0CA4-E761-B7F9-B382FFDAAB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6215" y="2326040"/>
            <a:ext cx="5359570" cy="1954412"/>
          </a:xfrm>
          <a:prstGeom prst="rect">
            <a:avLst/>
          </a:prstGeom>
          <a:noFill/>
          <a:ln>
            <a:noFill/>
          </a:ln>
        </p:spPr>
      </p:pic>
    </p:spTree>
    <p:extLst>
      <p:ext uri="{BB962C8B-B14F-4D97-AF65-F5344CB8AC3E}">
        <p14:creationId xmlns:p14="http://schemas.microsoft.com/office/powerpoint/2010/main" val="1599839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67846" y="579205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4" name="Picture 3">
            <a:extLst>
              <a:ext uri="{FF2B5EF4-FFF2-40B4-BE49-F238E27FC236}">
                <a16:creationId xmlns:a16="http://schemas.microsoft.com/office/drawing/2014/main" id="{9EE36666-0BE9-C278-3781-F0D4456BA8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24312" y="1414462"/>
            <a:ext cx="4143375" cy="4029075"/>
          </a:xfrm>
          <a:prstGeom prst="rect">
            <a:avLst/>
          </a:prstGeom>
          <a:noFill/>
          <a:ln>
            <a:noFill/>
          </a:ln>
        </p:spPr>
      </p:pic>
    </p:spTree>
    <p:extLst>
      <p:ext uri="{BB962C8B-B14F-4D97-AF65-F5344CB8AC3E}">
        <p14:creationId xmlns:p14="http://schemas.microsoft.com/office/powerpoint/2010/main" val="538859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4" name="Picture 3">
            <a:extLst>
              <a:ext uri="{FF2B5EF4-FFF2-40B4-BE49-F238E27FC236}">
                <a16:creationId xmlns:a16="http://schemas.microsoft.com/office/drawing/2014/main" id="{E5CD7870-2067-E017-EA22-4199FA805B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0524" y="2097419"/>
            <a:ext cx="8950951" cy="2663162"/>
          </a:xfrm>
          <a:prstGeom prst="rect">
            <a:avLst/>
          </a:prstGeom>
          <a:noFill/>
          <a:ln>
            <a:noFill/>
          </a:ln>
        </p:spPr>
      </p:pic>
    </p:spTree>
    <p:extLst>
      <p:ext uri="{BB962C8B-B14F-4D97-AF65-F5344CB8AC3E}">
        <p14:creationId xmlns:p14="http://schemas.microsoft.com/office/powerpoint/2010/main" val="2099159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451735" y="562367"/>
            <a:ext cx="6460767"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0" y="563791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4" name="Picture 3">
            <a:extLst>
              <a:ext uri="{FF2B5EF4-FFF2-40B4-BE49-F238E27FC236}">
                <a16:creationId xmlns:a16="http://schemas.microsoft.com/office/drawing/2014/main" id="{836A8210-311B-A4D3-6C4E-E357A46A62EA}"/>
              </a:ext>
            </a:extLst>
          </p:cNvPr>
          <p:cNvPicPr>
            <a:picLocks noChangeAspect="1"/>
          </p:cNvPicPr>
          <p:nvPr/>
        </p:nvPicPr>
        <p:blipFill>
          <a:blip r:embed="rId2"/>
          <a:stretch>
            <a:fillRect/>
          </a:stretch>
        </p:blipFill>
        <p:spPr>
          <a:xfrm>
            <a:off x="1584361" y="1803824"/>
            <a:ext cx="9023278" cy="3523513"/>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5" name="Picture 4">
            <a:extLst>
              <a:ext uri="{FF2B5EF4-FFF2-40B4-BE49-F238E27FC236}">
                <a16:creationId xmlns:a16="http://schemas.microsoft.com/office/drawing/2014/main" id="{1F12C300-04C9-177C-3312-A50659C538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9050" y="2786062"/>
            <a:ext cx="4533900" cy="1285875"/>
          </a:xfrm>
          <a:prstGeom prst="rect">
            <a:avLst/>
          </a:prstGeom>
          <a:noFill/>
          <a:ln>
            <a:noFill/>
          </a:ln>
        </p:spPr>
      </p:pic>
    </p:spTree>
    <p:extLst>
      <p:ext uri="{BB962C8B-B14F-4D97-AF65-F5344CB8AC3E}">
        <p14:creationId xmlns:p14="http://schemas.microsoft.com/office/powerpoint/2010/main" val="18869621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61977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Picture 3">
            <a:extLst>
              <a:ext uri="{FF2B5EF4-FFF2-40B4-BE49-F238E27FC236}">
                <a16:creationId xmlns:a16="http://schemas.microsoft.com/office/drawing/2014/main" id="{B5D0F003-23EB-251A-5E3B-D6A62F9EA9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3323" y="1568748"/>
            <a:ext cx="6285352" cy="4051024"/>
          </a:xfrm>
          <a:prstGeom prst="rect">
            <a:avLst/>
          </a:prstGeom>
          <a:noFill/>
          <a:ln>
            <a:noFill/>
          </a:ln>
        </p:spPr>
      </p:pic>
    </p:spTree>
    <p:extLst>
      <p:ext uri="{BB962C8B-B14F-4D97-AF65-F5344CB8AC3E}">
        <p14:creationId xmlns:p14="http://schemas.microsoft.com/office/powerpoint/2010/main" val="1666793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64627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Picture 3">
            <a:extLst>
              <a:ext uri="{FF2B5EF4-FFF2-40B4-BE49-F238E27FC236}">
                <a16:creationId xmlns:a16="http://schemas.microsoft.com/office/drawing/2014/main" id="{23710A05-0483-C7B8-864A-8F6D58CF3E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199" y="1644506"/>
            <a:ext cx="5943600" cy="4001770"/>
          </a:xfrm>
          <a:prstGeom prst="rect">
            <a:avLst/>
          </a:prstGeom>
          <a:noFill/>
          <a:ln>
            <a:noFill/>
          </a:ln>
        </p:spPr>
      </p:pic>
    </p:spTree>
    <p:extLst>
      <p:ext uri="{BB962C8B-B14F-4D97-AF65-F5344CB8AC3E}">
        <p14:creationId xmlns:p14="http://schemas.microsoft.com/office/powerpoint/2010/main" val="1179235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4618380"/>
          </a:xfrm>
          <a:prstGeom prst="rect">
            <a:avLst/>
          </a:prstGeom>
        </p:spPr>
        <p:txBody>
          <a:bodyPr wrap="square">
            <a:spAutoFit/>
          </a:bodyPr>
          <a:lstStyle/>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Impedovo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 &amp; Pirlo, G. (2008). Automatic Signature Verification: The State of the Art. IEEE Transactions on Systems, Man, and Cybernetics, Part C (Applications and Reviews), 38(5), 609–635.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 &amp; Lorette, G. (1989). Automatic signature verification and writer identification — the state of the art. Pattern Recognition, 22(2), 107-131.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Hafemann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 G., Sabourin, R., &amp; Oliveira, L. S. (2017). Learning features for offline handwritten signature verification using deep convolutional neural networks. In Proceedings of the International Conference on Image Processing Theory, Tools and Applications (IPTA).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Fierrez</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J., Ortega-Garcia, J., Ramos, D., &amp; Gonzalez-Rodriguez, J. (2007). HMM-based on-line signature verification: Feature extraction and signature modeling. In Proceedings of the 17th International Conference on Pattern Recognition (ICPR).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2812950"/>
          </a:xfrm>
          <a:prstGeom prst="rect">
            <a:avLst/>
          </a:prstGeom>
        </p:spPr>
        <p:txBody>
          <a:bodyPr wrap="square">
            <a:spAutoFit/>
          </a:bodyPr>
          <a:lstStyle/>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Rivard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 &amp; Kaltenbach, M. (1992). A comparative analysis of signature verification algorithms. Pattern Recognition, 25(3), 291–307.</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Kholmatov</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Yanikoglu</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 (2005). Identity authentication using improved online signature verification method. Pattern Recognition Letters, 26(15), 2400-2408.</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LeCun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Bengio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&amp; Hinton, G. (2015). Deep learning. Nature, 521(7553), 436-444.</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209</TotalTime>
  <Words>3350</Words>
  <Application>Microsoft Office PowerPoint</Application>
  <PresentationFormat>Widescreen</PresentationFormat>
  <Paragraphs>210</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Garamond</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E Indira</cp:lastModifiedBy>
  <cp:revision>57</cp:revision>
  <dcterms:created xsi:type="dcterms:W3CDTF">2022-11-19T11:35:00Z</dcterms:created>
  <dcterms:modified xsi:type="dcterms:W3CDTF">2024-06-05T11:22:50Z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